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93" r:id="rId3"/>
    <p:sldId id="295" r:id="rId4"/>
    <p:sldId id="294" r:id="rId5"/>
    <p:sldId id="289" r:id="rId6"/>
    <p:sldId id="290" r:id="rId7"/>
    <p:sldId id="291" r:id="rId8"/>
    <p:sldId id="288" r:id="rId9"/>
    <p:sldId id="287" r:id="rId10"/>
    <p:sldId id="292" r:id="rId11"/>
    <p:sldId id="286" r:id="rId12"/>
    <p:sldId id="285" r:id="rId13"/>
    <p:sldId id="284" r:id="rId14"/>
    <p:sldId id="283" r:id="rId15"/>
    <p:sldId id="282" r:id="rId16"/>
    <p:sldId id="281" r:id="rId17"/>
    <p:sldId id="280" r:id="rId18"/>
    <p:sldId id="279" r:id="rId19"/>
    <p:sldId id="276" r:id="rId20"/>
    <p:sldId id="278" r:id="rId21"/>
    <p:sldId id="277" r:id="rId22"/>
    <p:sldId id="274" r:id="rId23"/>
    <p:sldId id="271" r:id="rId24"/>
    <p:sldId id="273" r:id="rId25"/>
    <p:sldId id="272" r:id="rId26"/>
    <p:sldId id="270" r:id="rId27"/>
    <p:sldId id="269" r:id="rId28"/>
    <p:sldId id="275" r:id="rId29"/>
    <p:sldId id="268" r:id="rId30"/>
    <p:sldId id="264" r:id="rId31"/>
    <p:sldId id="265" r:id="rId32"/>
    <p:sldId id="266" r:id="rId33"/>
    <p:sldId id="267" r:id="rId34"/>
    <p:sldId id="257" r:id="rId35"/>
    <p:sldId id="262" r:id="rId36"/>
    <p:sldId id="259" r:id="rId37"/>
    <p:sldId id="260" r:id="rId38"/>
    <p:sldId id="263" r:id="rId39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05" autoAdjust="0"/>
    <p:restoredTop sz="94660"/>
  </p:normalViewPr>
  <p:slideViewPr>
    <p:cSldViewPr snapToGrid="0">
      <p:cViewPr varScale="1">
        <p:scale>
          <a:sx n="75" d="100"/>
          <a:sy n="75" d="100"/>
        </p:scale>
        <p:origin x="83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9AB0B-31F6-DC4F-C54C-9A228B861C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374476-46A8-761B-0A60-AFE387D5A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8A458-1656-1CE3-74DF-89CD10D2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D8E77-BD91-4772-B548-D3D64B814BB8}" type="datetimeFigureOut">
              <a:rPr lang="en-PK" smtClean="0"/>
              <a:t>06/06/2026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0A528-1BF0-7C5C-F21A-5294BAF4B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46B1C-4B2C-E675-1537-A1D7D3B08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52139-06EA-4434-B883-7915D65EDBF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81914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58665-5599-16CC-BC96-5405FF611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B9E4C-EE15-6A36-4DEA-ED8D46028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95F1F-7B4B-5FAA-0240-2647F81E5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D8E77-BD91-4772-B548-D3D64B814BB8}" type="datetimeFigureOut">
              <a:rPr lang="en-PK" smtClean="0"/>
              <a:t>06/06/2026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D7B55-7379-5282-0BE9-389A22579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5B804-6F2D-71E3-5651-F9CA492D5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52139-06EA-4434-B883-7915D65EDBF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97628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206F7-0751-E665-99F3-0A90D1427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95A50-FEE5-964D-04F5-162AA0286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7E7C1-3811-4CAC-2B9E-D9706ECA3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D8E77-BD91-4772-B548-D3D64B814BB8}" type="datetimeFigureOut">
              <a:rPr lang="en-PK" smtClean="0"/>
              <a:t>06/06/2026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6BB14-863F-3D12-5CCA-16C72E1FB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5A008-7F04-ED5F-0FF3-8FF56F095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52139-06EA-4434-B883-7915D65EDBF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54764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6B006-588E-97B4-CCFA-5DF930CD8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209F4-CEB7-D08C-2A0C-FACA10075F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24121-9EF2-C183-D054-9C7A9D15B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D7511-2797-BA25-AA58-804D2001E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D8E77-BD91-4772-B548-D3D64B814BB8}" type="datetimeFigureOut">
              <a:rPr lang="en-PK" smtClean="0"/>
              <a:t>06/06/2026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D2C51-1881-F35E-0F97-E584E71FC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E2E7C-D339-E231-1718-C9E5392F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52139-06EA-4434-B883-7915D65EDBF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74376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8A9FA-4BA7-52BD-AC8F-7A36E2990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E77AC-F153-C01A-9EE9-46ACBD2AC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4A2FDE-9377-0947-7CFE-5B4490E66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0E7CD3-EED5-0CAD-D2AC-65D2C03BD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568DA5-64E3-C940-12ED-890A097224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250DAB-C091-AFB0-1428-44812FB43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D8E77-BD91-4772-B548-D3D64B814BB8}" type="datetimeFigureOut">
              <a:rPr lang="en-PK" smtClean="0"/>
              <a:t>06/06/2026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4EFCE2-FB4F-19FB-88E2-685757BE1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52D1EE-2C36-DCB9-35A6-E5DCDBEB9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52139-06EA-4434-B883-7915D65EDBF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75460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5FB23-58C1-0434-71F5-FDF5C868B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02ACE1-8B80-357D-3335-D7104BD96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D8E77-BD91-4772-B548-D3D64B814BB8}" type="datetimeFigureOut">
              <a:rPr lang="en-PK" smtClean="0"/>
              <a:t>06/06/2026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E4F9A1-07E5-86C0-416F-264EE9E85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5736B0-98D4-5788-9357-CD0E3374D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52139-06EA-4434-B883-7915D65EDBF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12264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D38328-229E-C97F-6ABA-04D3020B2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D8E77-BD91-4772-B548-D3D64B814BB8}" type="datetimeFigureOut">
              <a:rPr lang="en-PK" smtClean="0"/>
              <a:t>06/06/2026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75EF7-2E9E-DE10-EBA2-FE3F80B0B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8F2F7-BBED-B0E0-CB63-9D1486048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52139-06EA-4434-B883-7915D65EDBF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3781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49E6E-D5DD-2802-CA28-FA9325F41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6BF86-04C8-7C95-8050-5D626FD90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A341FB-FF6F-FF09-85DE-7819EF2DA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7E180E-4173-C1EB-3546-CEBD5CEB7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D8E77-BD91-4772-B548-D3D64B814BB8}" type="datetimeFigureOut">
              <a:rPr lang="en-PK" smtClean="0"/>
              <a:t>06/06/2026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B46CB-0964-A46D-1348-A7AE62729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11C16-F0C0-5373-EC2F-D110CF6D5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52139-06EA-4434-B883-7915D65EDBF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5536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BDB38-EE9A-42E8-00D9-172CD3C40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34EDAF-C3B7-C680-11B8-3F7088FFE2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4A27E-361D-1063-8DCC-ED7A041A5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5E288-1F64-B3DC-EF31-E9FC1D453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D8E77-BD91-4772-B548-D3D64B814BB8}" type="datetimeFigureOut">
              <a:rPr lang="en-PK" smtClean="0"/>
              <a:t>06/06/2026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81954-CE20-7108-A89F-872DD106C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0F14C-8EE6-A654-AFFC-AC863C378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52139-06EA-4434-B883-7915D65EDBF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96588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7D081-957E-57AC-78C2-781BCABEB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F52DFE-7238-1768-39BA-A317ECE9F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725B2-12E6-BEB7-75EC-D776D91C0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D8E77-BD91-4772-B548-D3D64B814BB8}" type="datetimeFigureOut">
              <a:rPr lang="en-PK" smtClean="0"/>
              <a:t>06/06/2026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BD467-323D-0263-4F7A-63D70DA97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AB804-5177-588F-8DA1-699AFEED8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52139-06EA-4434-B883-7915D65EDBF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64898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3BED8E-5C59-209C-F78C-6D14DC8756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DFB1A6-18D7-4C70-8CEC-518D5F163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46D72-4352-EFEF-0033-D1ADE10DA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D8E77-BD91-4772-B548-D3D64B814BB8}" type="datetimeFigureOut">
              <a:rPr lang="en-PK" smtClean="0"/>
              <a:t>06/06/2026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1EF2F-011B-2D91-31BA-FC2EC48C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E4D58-6D7B-44EE-13E2-84C076AE1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52139-06EA-4434-B883-7915D65EDBF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00710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2FB87C-7500-0EA3-9BDF-4570B3009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1730E-6402-CF81-240E-A0C01B9FE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FF02A-DE47-ED27-C8D0-A209BFCBAD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AD8E77-BD91-4772-B548-D3D64B814BB8}" type="datetimeFigureOut">
              <a:rPr lang="en-PK" smtClean="0"/>
              <a:t>06/06/2026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EFADB-A511-059F-438E-CC9ED985E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A706F-35B8-0E27-10E9-E76A93B3DA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52139-06EA-4434-B883-7915D65EDBF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560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262F1-6816-39E3-D2F1-67EAE3858B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DYE3 ADSORPTION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3E9ED6-0996-ECDE-1FE9-F35B490075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7659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38D595-2F95-2243-2B17-1FD8E970B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5" t="16393" r="12125" b="7702"/>
          <a:stretch>
            <a:fillRect/>
          </a:stretch>
        </p:blipFill>
        <p:spPr>
          <a:xfrm rot="20040589">
            <a:off x="-230852" y="617007"/>
            <a:ext cx="7299187" cy="30452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A72233-F666-BE28-E483-6F483ECBE0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0" r="11625"/>
          <a:stretch>
            <a:fillRect/>
          </a:stretch>
        </p:blipFill>
        <p:spPr>
          <a:xfrm rot="19768873">
            <a:off x="3722373" y="1818054"/>
            <a:ext cx="8362417" cy="440676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3E0097-EFDF-6850-0EA2-17ED5AFB08B1}"/>
              </a:ext>
            </a:extLst>
          </p:cNvPr>
          <p:cNvCxnSpPr/>
          <p:nvPr/>
        </p:nvCxnSpPr>
        <p:spPr>
          <a:xfrm flipH="1" flipV="1">
            <a:off x="5471160" y="2438400"/>
            <a:ext cx="1249680" cy="99060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8D181EE-A6DB-C08E-6E0B-C0E85BD097F8}"/>
              </a:ext>
            </a:extLst>
          </p:cNvPr>
          <p:cNvSpPr txBox="1"/>
          <p:nvPr/>
        </p:nvSpPr>
        <p:spPr>
          <a:xfrm>
            <a:off x="9128760" y="1082040"/>
            <a:ext cx="173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lumo</a:t>
            </a:r>
            <a:endParaRPr lang="en-P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3127E3-67C9-5326-C9D3-95CD228DB689}"/>
              </a:ext>
            </a:extLst>
          </p:cNvPr>
          <p:cNvSpPr txBox="1"/>
          <p:nvPr/>
        </p:nvSpPr>
        <p:spPr>
          <a:xfrm>
            <a:off x="7178040" y="640080"/>
            <a:ext cx="1950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homo</a:t>
            </a:r>
            <a:endParaRPr lang="en-PK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D4046B-D211-4D61-68DF-3796A510D1C5}"/>
              </a:ext>
            </a:extLst>
          </p:cNvPr>
          <p:cNvSpPr txBox="1"/>
          <p:nvPr/>
        </p:nvSpPr>
        <p:spPr>
          <a:xfrm>
            <a:off x="1143000" y="6136362"/>
            <a:ext cx="3246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Lignin-Brushite-dye3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04315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E81E8E-8B69-9C4E-7A78-095C196B6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25" r="23750"/>
          <a:stretch>
            <a:fillRect/>
          </a:stretch>
        </p:blipFill>
        <p:spPr>
          <a:xfrm>
            <a:off x="426720" y="-432783"/>
            <a:ext cx="9144000" cy="63804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656C27-FDDD-B285-99AE-0D0A38F0AE52}"/>
              </a:ext>
            </a:extLst>
          </p:cNvPr>
          <p:cNvSpPr txBox="1"/>
          <p:nvPr/>
        </p:nvSpPr>
        <p:spPr>
          <a:xfrm>
            <a:off x="2072640" y="360402"/>
            <a:ext cx="3246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Lignin-Brushite-dye3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420BC0-FB4E-AAF5-A3A1-659F6011E283}"/>
              </a:ext>
            </a:extLst>
          </p:cNvPr>
          <p:cNvSpPr txBox="1"/>
          <p:nvPr/>
        </p:nvSpPr>
        <p:spPr>
          <a:xfrm>
            <a:off x="4846320" y="562356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Optimized Structure</a:t>
            </a:r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64436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2F1E5A-F2DC-9D45-63EE-F325500F4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75" t="11468" r="19500" b="12917"/>
          <a:stretch>
            <a:fillRect/>
          </a:stretch>
        </p:blipFill>
        <p:spPr>
          <a:xfrm>
            <a:off x="1935480" y="1402081"/>
            <a:ext cx="7879080" cy="39776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D93417-B8FF-61B7-AD0D-5EFC053788AB}"/>
              </a:ext>
            </a:extLst>
          </p:cNvPr>
          <p:cNvSpPr txBox="1"/>
          <p:nvPr/>
        </p:nvSpPr>
        <p:spPr>
          <a:xfrm>
            <a:off x="2118360" y="649962"/>
            <a:ext cx="3246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Lignin-Brushite-dye3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70344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9B1924-BA5C-CD6D-C72A-748477E8D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0" t="169" r="18125" b="-1"/>
          <a:stretch>
            <a:fillRect/>
          </a:stretch>
        </p:blipFill>
        <p:spPr>
          <a:xfrm>
            <a:off x="5465075" y="2861549"/>
            <a:ext cx="5985721" cy="408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20122B-164D-DB41-E12A-1B6E6ADAC0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9" t="6252" r="23126" b="13206"/>
          <a:stretch>
            <a:fillRect/>
          </a:stretch>
        </p:blipFill>
        <p:spPr>
          <a:xfrm rot="9410525">
            <a:off x="68977" y="228618"/>
            <a:ext cx="5698446" cy="345134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D781097-F2C5-F145-294A-2ADE9E378C64}"/>
              </a:ext>
            </a:extLst>
          </p:cNvPr>
          <p:cNvCxnSpPr/>
          <p:nvPr/>
        </p:nvCxnSpPr>
        <p:spPr>
          <a:xfrm flipH="1" flipV="1">
            <a:off x="5151120" y="2651760"/>
            <a:ext cx="944880" cy="140208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A28C60A-CBE4-BB63-1447-7960592F2777}"/>
              </a:ext>
            </a:extLst>
          </p:cNvPr>
          <p:cNvSpPr txBox="1"/>
          <p:nvPr/>
        </p:nvSpPr>
        <p:spPr>
          <a:xfrm>
            <a:off x="6373473" y="520787"/>
            <a:ext cx="3773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HEMICELLULOSE-BRUSHITE –DYE3</a:t>
            </a:r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716AD7-FF83-B806-8B57-50DCD369BD6B}"/>
              </a:ext>
            </a:extLst>
          </p:cNvPr>
          <p:cNvSpPr txBox="1"/>
          <p:nvPr/>
        </p:nvSpPr>
        <p:spPr>
          <a:xfrm>
            <a:off x="10146687" y="1584960"/>
            <a:ext cx="1435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LUMO</a:t>
            </a:r>
            <a:endParaRPr lang="en-P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04FFE2-686D-44D0-BEC3-380B73D0DA96}"/>
              </a:ext>
            </a:extLst>
          </p:cNvPr>
          <p:cNvSpPr txBox="1"/>
          <p:nvPr/>
        </p:nvSpPr>
        <p:spPr>
          <a:xfrm>
            <a:off x="5623560" y="1497680"/>
            <a:ext cx="1435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HOMO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01664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7D51BD-39F0-FF90-3B57-953BDA065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26" t="-2659" r="15875" b="7512"/>
          <a:stretch>
            <a:fillRect/>
          </a:stretch>
        </p:blipFill>
        <p:spPr>
          <a:xfrm>
            <a:off x="0" y="1478281"/>
            <a:ext cx="6096000" cy="36994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172ACB-6EBF-44E4-0DFE-54C318590B90}"/>
              </a:ext>
            </a:extLst>
          </p:cNvPr>
          <p:cNvSpPr txBox="1"/>
          <p:nvPr/>
        </p:nvSpPr>
        <p:spPr>
          <a:xfrm>
            <a:off x="4099560" y="5738071"/>
            <a:ext cx="377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OPTIMIZED STRUCTURE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DFFFC5-E050-CCFD-CDA1-02107C0308C1}"/>
              </a:ext>
            </a:extLst>
          </p:cNvPr>
          <p:cNvSpPr txBox="1"/>
          <p:nvPr/>
        </p:nvSpPr>
        <p:spPr>
          <a:xfrm>
            <a:off x="5108553" y="179308"/>
            <a:ext cx="3773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HEMICELLULOSE-BRUSHITE –DYE3</a:t>
            </a:r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04B18E-648B-6F52-F53E-CCB4E5621B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00" r="16125"/>
          <a:stretch>
            <a:fillRect/>
          </a:stretch>
        </p:blipFill>
        <p:spPr>
          <a:xfrm>
            <a:off x="6209388" y="1478281"/>
            <a:ext cx="5625509" cy="376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816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736C98-053D-17D9-9502-C67B4F42AB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25" r="21500" b="17262"/>
          <a:stretch>
            <a:fillRect/>
          </a:stretch>
        </p:blipFill>
        <p:spPr>
          <a:xfrm>
            <a:off x="152400" y="585465"/>
            <a:ext cx="7178040" cy="43522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BA7573-EC3C-465F-CB47-D141FC8387DF}"/>
              </a:ext>
            </a:extLst>
          </p:cNvPr>
          <p:cNvSpPr txBox="1"/>
          <p:nvPr/>
        </p:nvSpPr>
        <p:spPr>
          <a:xfrm>
            <a:off x="5108553" y="179308"/>
            <a:ext cx="3773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HEMICELLULOSE-BRUSHITE –DYE3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F70D59-AF85-C9DF-0DC2-EB69BE7F6E81}"/>
              </a:ext>
            </a:extLst>
          </p:cNvPr>
          <p:cNvSpPr txBox="1"/>
          <p:nvPr/>
        </p:nvSpPr>
        <p:spPr>
          <a:xfrm>
            <a:off x="1584960" y="4937761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MEP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74959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CF68BB-BC8E-3E26-7E4B-31474C445B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4" t="-1599" r="7241" b="10888"/>
          <a:stretch>
            <a:fillRect/>
          </a:stretch>
        </p:blipFill>
        <p:spPr>
          <a:xfrm rot="19203553">
            <a:off x="-470242" y="603550"/>
            <a:ext cx="6545724" cy="316144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FC3CF76-3227-AB4D-E4BD-5D2AD8C4B110}"/>
              </a:ext>
            </a:extLst>
          </p:cNvPr>
          <p:cNvCxnSpPr/>
          <p:nvPr/>
        </p:nvCxnSpPr>
        <p:spPr>
          <a:xfrm flipH="1" flipV="1">
            <a:off x="4434840" y="2072640"/>
            <a:ext cx="883920" cy="135636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03A7C0F-A03A-BA8F-804E-1BEBA7698463}"/>
              </a:ext>
            </a:extLst>
          </p:cNvPr>
          <p:cNvSpPr txBox="1"/>
          <p:nvPr/>
        </p:nvSpPr>
        <p:spPr>
          <a:xfrm>
            <a:off x="5062833" y="490307"/>
            <a:ext cx="3773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CELLULOSE-BRUSHITE –DYE3</a:t>
            </a:r>
            <a:endParaRPr lang="en-PK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944E4B-0763-EA3A-2DF4-5E40B63268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76" t="7412" r="21374" b="12626"/>
          <a:stretch>
            <a:fillRect/>
          </a:stretch>
        </p:blipFill>
        <p:spPr>
          <a:xfrm rot="20421533">
            <a:off x="4508749" y="1923623"/>
            <a:ext cx="7122155" cy="45714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75855B-1888-A8C0-1AA7-A644B37A8572}"/>
              </a:ext>
            </a:extLst>
          </p:cNvPr>
          <p:cNvSpPr txBox="1"/>
          <p:nvPr/>
        </p:nvSpPr>
        <p:spPr>
          <a:xfrm>
            <a:off x="8275320" y="1661160"/>
            <a:ext cx="1264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LUMO</a:t>
            </a:r>
            <a:endParaRPr lang="en-PK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85F060-1696-72FC-4808-D2C48E723374}"/>
              </a:ext>
            </a:extLst>
          </p:cNvPr>
          <p:cNvSpPr txBox="1"/>
          <p:nvPr/>
        </p:nvSpPr>
        <p:spPr>
          <a:xfrm>
            <a:off x="4587240" y="1645920"/>
            <a:ext cx="103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HOMO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35318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00CA3A-5C2B-A4A3-A7C5-4DE66F93C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0" t="12806" r="21121"/>
          <a:stretch>
            <a:fillRect/>
          </a:stretch>
        </p:blipFill>
        <p:spPr>
          <a:xfrm>
            <a:off x="0" y="2061799"/>
            <a:ext cx="7262649" cy="44412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AAFC4E-6A63-6F2A-C09B-33AFD6DA64E0}"/>
              </a:ext>
            </a:extLst>
          </p:cNvPr>
          <p:cNvSpPr txBox="1"/>
          <p:nvPr/>
        </p:nvSpPr>
        <p:spPr>
          <a:xfrm>
            <a:off x="4209393" y="536027"/>
            <a:ext cx="3773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CELLULOSE-BRUSHITE –DYE3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BCCA68-2470-FFA3-1D41-BA768E37281C}"/>
              </a:ext>
            </a:extLst>
          </p:cNvPr>
          <p:cNvSpPr txBox="1"/>
          <p:nvPr/>
        </p:nvSpPr>
        <p:spPr>
          <a:xfrm>
            <a:off x="1166648" y="6253655"/>
            <a:ext cx="3331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OPTIMIZED STRUCUTRE</a:t>
            </a:r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CF8459-1D39-649A-436B-215683CEC6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57" t="12313" r="16897" b="6403"/>
          <a:stretch>
            <a:fillRect/>
          </a:stretch>
        </p:blipFill>
        <p:spPr>
          <a:xfrm>
            <a:off x="5284382" y="536026"/>
            <a:ext cx="6811926" cy="374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90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BD529F-758B-02E4-0419-510B4A9395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75" t="13496" r="24250" b="5095"/>
          <a:stretch>
            <a:fillRect/>
          </a:stretch>
        </p:blipFill>
        <p:spPr>
          <a:xfrm>
            <a:off x="2926080" y="594361"/>
            <a:ext cx="5532120" cy="42824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25670C-FCF8-5E2E-F0F3-B7D33BD131ED}"/>
              </a:ext>
            </a:extLst>
          </p:cNvPr>
          <p:cNvSpPr txBox="1"/>
          <p:nvPr/>
        </p:nvSpPr>
        <p:spPr>
          <a:xfrm>
            <a:off x="5062833" y="490307"/>
            <a:ext cx="3773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CELLULOSE-BRUSHITE –DYE3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3C8440-90E5-0304-5FF2-68EB23D03277}"/>
              </a:ext>
            </a:extLst>
          </p:cNvPr>
          <p:cNvSpPr txBox="1"/>
          <p:nvPr/>
        </p:nvSpPr>
        <p:spPr>
          <a:xfrm>
            <a:off x="4191000" y="5486400"/>
            <a:ext cx="163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MEP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96878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B14485-522B-AE0A-D23F-705CD4457881}"/>
              </a:ext>
            </a:extLst>
          </p:cNvPr>
          <p:cNvSpPr txBox="1"/>
          <p:nvPr/>
        </p:nvSpPr>
        <p:spPr>
          <a:xfrm>
            <a:off x="3317240" y="2915920"/>
            <a:ext cx="5557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/>
              <a:t>DYE2 ADSORPTION</a:t>
            </a:r>
            <a:endParaRPr lang="en-PK" sz="4800" b="1" dirty="0"/>
          </a:p>
        </p:txBody>
      </p:sp>
    </p:spTree>
    <p:extLst>
      <p:ext uri="{BB962C8B-B14F-4D97-AF65-F5344CB8AC3E}">
        <p14:creationId xmlns:p14="http://schemas.microsoft.com/office/powerpoint/2010/main" val="1037024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7874C7E-6929-9290-4D13-55B7434E3D5B}"/>
              </a:ext>
            </a:extLst>
          </p:cNvPr>
          <p:cNvCxnSpPr/>
          <p:nvPr/>
        </p:nvCxnSpPr>
        <p:spPr>
          <a:xfrm>
            <a:off x="5044440" y="3017520"/>
            <a:ext cx="670560" cy="60960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8830A8F-93B3-0313-0F27-65A2B557AB71}"/>
              </a:ext>
            </a:extLst>
          </p:cNvPr>
          <p:cNvSpPr txBox="1"/>
          <p:nvPr/>
        </p:nvSpPr>
        <p:spPr>
          <a:xfrm>
            <a:off x="9902335" y="2313227"/>
            <a:ext cx="1264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LUMO</a:t>
            </a:r>
            <a:endParaRPr lang="en-P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5E4551-F167-4B9B-7A68-152C1A27F600}"/>
              </a:ext>
            </a:extLst>
          </p:cNvPr>
          <p:cNvSpPr txBox="1"/>
          <p:nvPr/>
        </p:nvSpPr>
        <p:spPr>
          <a:xfrm>
            <a:off x="4747260" y="746802"/>
            <a:ext cx="1264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HOMO</a:t>
            </a:r>
            <a:endParaRPr lang="en-PK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26305-C196-4049-FFF3-7819CDA0FB6E}"/>
              </a:ext>
            </a:extLst>
          </p:cNvPr>
          <p:cNvSpPr txBox="1"/>
          <p:nvPr/>
        </p:nvSpPr>
        <p:spPr>
          <a:xfrm>
            <a:off x="7392464" y="377470"/>
            <a:ext cx="2177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lignin-brushite-dye2</a:t>
            </a:r>
            <a:endParaRPr lang="en-P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381ED33-8A7A-9E61-F719-3175876E9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47" t="10799" r="34818" b="4372"/>
          <a:stretch>
            <a:fillRect/>
          </a:stretch>
        </p:blipFill>
        <p:spPr>
          <a:xfrm>
            <a:off x="509066" y="-634957"/>
            <a:ext cx="5416952" cy="54384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0AF2317-7322-5CF6-E599-8F37A33FB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77" t="20900" r="28133" b="10448"/>
          <a:stretch>
            <a:fillRect/>
          </a:stretch>
        </p:blipFill>
        <p:spPr>
          <a:xfrm>
            <a:off x="5310466" y="2497893"/>
            <a:ext cx="7049872" cy="462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905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74DA78-39E4-6A64-C0BB-680333415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0" t="14965" r="33000"/>
          <a:stretch>
            <a:fillRect/>
          </a:stretch>
        </p:blipFill>
        <p:spPr>
          <a:xfrm rot="20760279">
            <a:off x="2571828" y="868680"/>
            <a:ext cx="4998720" cy="44942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81930A-803F-6BDB-CB41-479FB1C7031F}"/>
              </a:ext>
            </a:extLst>
          </p:cNvPr>
          <p:cNvSpPr txBox="1"/>
          <p:nvPr/>
        </p:nvSpPr>
        <p:spPr>
          <a:xfrm>
            <a:off x="2515664" y="391324"/>
            <a:ext cx="5524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Interacting optimized structure of lignin-brushite-dye2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51778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85E9EB-1749-1451-FAEF-2DAD875D5FEA}"/>
              </a:ext>
            </a:extLst>
          </p:cNvPr>
          <p:cNvSpPr txBox="1"/>
          <p:nvPr/>
        </p:nvSpPr>
        <p:spPr>
          <a:xfrm>
            <a:off x="2515664" y="391324"/>
            <a:ext cx="2909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MEP of lignin-brushite-dye2</a:t>
            </a:r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9B5208-7AD6-7020-3C52-18B1A114D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87" t="13966" r="30875" b="15343"/>
          <a:stretch>
            <a:fillRect/>
          </a:stretch>
        </p:blipFill>
        <p:spPr>
          <a:xfrm>
            <a:off x="2773680" y="760656"/>
            <a:ext cx="4869180" cy="371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704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D5B01A-1886-B7D0-BD02-C471E862B5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3" r="15172" b="9091"/>
          <a:stretch>
            <a:fillRect/>
          </a:stretch>
        </p:blipFill>
        <p:spPr>
          <a:xfrm>
            <a:off x="1198179" y="672700"/>
            <a:ext cx="7830207" cy="47821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15049C-9B47-BA59-CA45-4259EF63AA64}"/>
              </a:ext>
            </a:extLst>
          </p:cNvPr>
          <p:cNvSpPr txBox="1"/>
          <p:nvPr/>
        </p:nvSpPr>
        <p:spPr>
          <a:xfrm>
            <a:off x="2515664" y="391324"/>
            <a:ext cx="639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Interacting optimized structure of Hemicellulose-brushite-dye2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7275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2CB3BE-5229-0752-BA1E-D2C8E4BC54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08" t="19580" r="33622" b="17683"/>
          <a:stretch>
            <a:fillRect/>
          </a:stretch>
        </p:blipFill>
        <p:spPr>
          <a:xfrm>
            <a:off x="515006" y="367863"/>
            <a:ext cx="4214648" cy="33002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F32966-8F1A-8764-C60A-5629C0A337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50" t="14962" r="34136" b="18538"/>
          <a:stretch>
            <a:fillRect/>
          </a:stretch>
        </p:blipFill>
        <p:spPr>
          <a:xfrm>
            <a:off x="6306450" y="1102485"/>
            <a:ext cx="3646969" cy="34981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100B1A-28F5-DEC2-51E3-8BB670A26EF1}"/>
              </a:ext>
            </a:extLst>
          </p:cNvPr>
          <p:cNvSpPr txBox="1"/>
          <p:nvPr/>
        </p:nvSpPr>
        <p:spPr>
          <a:xfrm>
            <a:off x="3685978" y="5180131"/>
            <a:ext cx="382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MEP of Hemicellulose-brushite-dye2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73789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78944A-95C2-EFB9-743D-4D72CF240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93" r="13793" b="5294"/>
          <a:stretch>
            <a:fillRect/>
          </a:stretch>
        </p:blipFill>
        <p:spPr>
          <a:xfrm>
            <a:off x="798786" y="3012565"/>
            <a:ext cx="6579476" cy="38454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1FFFA1-12B8-AB95-A5B7-D65A64A21A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8" t="2508" r="22500" b="21088"/>
          <a:stretch>
            <a:fillRect/>
          </a:stretch>
        </p:blipFill>
        <p:spPr>
          <a:xfrm>
            <a:off x="0" y="-590106"/>
            <a:ext cx="7093627" cy="401910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AC924C-D6E0-F8BE-C08F-327FF1AD660F}"/>
              </a:ext>
            </a:extLst>
          </p:cNvPr>
          <p:cNvCxnSpPr/>
          <p:nvPr/>
        </p:nvCxnSpPr>
        <p:spPr>
          <a:xfrm>
            <a:off x="3699641" y="2249214"/>
            <a:ext cx="325821" cy="1744717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D3EFCDA-99F8-93A7-BAB1-8D1DD45EA878}"/>
              </a:ext>
            </a:extLst>
          </p:cNvPr>
          <p:cNvSpPr txBox="1"/>
          <p:nvPr/>
        </p:nvSpPr>
        <p:spPr>
          <a:xfrm>
            <a:off x="7093627" y="3616960"/>
            <a:ext cx="1613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LUMO</a:t>
            </a:r>
            <a:endParaRPr lang="en-P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45B42E-8ED2-610D-24B6-8F34DBE19A19}"/>
              </a:ext>
            </a:extLst>
          </p:cNvPr>
          <p:cNvSpPr txBox="1"/>
          <p:nvPr/>
        </p:nvSpPr>
        <p:spPr>
          <a:xfrm>
            <a:off x="6571515" y="1234781"/>
            <a:ext cx="1613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HOMO</a:t>
            </a:r>
            <a:endParaRPr lang="en-PK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CE6BEF-7E0B-7A14-E01D-5AE0BD75E07F}"/>
              </a:ext>
            </a:extLst>
          </p:cNvPr>
          <p:cNvSpPr txBox="1"/>
          <p:nvPr/>
        </p:nvSpPr>
        <p:spPr>
          <a:xfrm>
            <a:off x="8321040" y="1879882"/>
            <a:ext cx="3090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Hemicellulose-brushite-dye2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614179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FE0FB9-2943-D4C2-EA04-A380C10EA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53" t="18581" r="25430" b="10289"/>
          <a:stretch>
            <a:fillRect/>
          </a:stretch>
        </p:blipFill>
        <p:spPr>
          <a:xfrm>
            <a:off x="756745" y="515006"/>
            <a:ext cx="6947338" cy="42205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B6124A-9F27-2EB9-F72B-D15B0CCC8444}"/>
              </a:ext>
            </a:extLst>
          </p:cNvPr>
          <p:cNvSpPr txBox="1"/>
          <p:nvPr/>
        </p:nvSpPr>
        <p:spPr>
          <a:xfrm>
            <a:off x="9001760" y="413752"/>
            <a:ext cx="259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Cellulose-brushite-dye2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35044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C52AE5-2D5C-6B79-532B-EF475F8B8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10" t="25291" r="20172" b="12862"/>
          <a:stretch>
            <a:fillRect/>
          </a:stretch>
        </p:blipFill>
        <p:spPr>
          <a:xfrm>
            <a:off x="983374" y="1166648"/>
            <a:ext cx="10446811" cy="50449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B17348-D6A8-DCB7-7CB4-504D72FD32FB}"/>
              </a:ext>
            </a:extLst>
          </p:cNvPr>
          <p:cNvSpPr txBox="1"/>
          <p:nvPr/>
        </p:nvSpPr>
        <p:spPr>
          <a:xfrm>
            <a:off x="3016469" y="472966"/>
            <a:ext cx="2596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Cellulose-brushite-dye2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11980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F44CE9-395D-2250-D6FC-1E0723B2A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52" r="21897" b="4695"/>
          <a:stretch>
            <a:fillRect/>
          </a:stretch>
        </p:blipFill>
        <p:spPr>
          <a:xfrm>
            <a:off x="3905995" y="2627624"/>
            <a:ext cx="6894786" cy="50133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97B16B-D083-8ADA-7B9A-509218C62A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28" t="17982" r="21121"/>
          <a:stretch>
            <a:fillRect/>
          </a:stretch>
        </p:blipFill>
        <p:spPr>
          <a:xfrm>
            <a:off x="147144" y="-191757"/>
            <a:ext cx="6894787" cy="431445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B7F32CC-709D-DD65-CAE6-D938007BE81A}"/>
              </a:ext>
            </a:extLst>
          </p:cNvPr>
          <p:cNvCxnSpPr/>
          <p:nvPr/>
        </p:nvCxnSpPr>
        <p:spPr>
          <a:xfrm>
            <a:off x="5286703" y="1450428"/>
            <a:ext cx="1030014" cy="1978572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392E8C1-7AD4-0091-A760-C659F1E96BC1}"/>
              </a:ext>
            </a:extLst>
          </p:cNvPr>
          <p:cNvSpPr txBox="1"/>
          <p:nvPr/>
        </p:nvSpPr>
        <p:spPr>
          <a:xfrm>
            <a:off x="7664844" y="2442958"/>
            <a:ext cx="260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LUMO</a:t>
            </a:r>
            <a:endParaRPr lang="en-P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F82D40-5F6B-BC5C-A8B9-7AA8E1FE174F}"/>
              </a:ext>
            </a:extLst>
          </p:cNvPr>
          <p:cNvSpPr txBox="1"/>
          <p:nvPr/>
        </p:nvSpPr>
        <p:spPr>
          <a:xfrm>
            <a:off x="6786880" y="750818"/>
            <a:ext cx="260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HOMO</a:t>
            </a:r>
            <a:endParaRPr lang="en-PK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9E8603-781A-DEF2-DD86-3C83AC0E2A87}"/>
              </a:ext>
            </a:extLst>
          </p:cNvPr>
          <p:cNvSpPr txBox="1"/>
          <p:nvPr/>
        </p:nvSpPr>
        <p:spPr>
          <a:xfrm>
            <a:off x="9001760" y="413752"/>
            <a:ext cx="259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Cellulose-brushite-dye2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26769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9FC386-5B86-DBB8-D5A1-E0DA162563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38" t="24893" r="22328" b="14651"/>
          <a:stretch>
            <a:fillRect/>
          </a:stretch>
        </p:blipFill>
        <p:spPr>
          <a:xfrm>
            <a:off x="1166648" y="515008"/>
            <a:ext cx="9081871" cy="44458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655501-EB38-3DA7-4E3A-28B9DBB96A99}"/>
              </a:ext>
            </a:extLst>
          </p:cNvPr>
          <p:cNvSpPr txBox="1"/>
          <p:nvPr/>
        </p:nvSpPr>
        <p:spPr>
          <a:xfrm>
            <a:off x="5286703" y="5623034"/>
            <a:ext cx="259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Cellulose-brushite-dye2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2A9B16-F668-0088-E93D-BD4D68B26DC5}"/>
              </a:ext>
            </a:extLst>
          </p:cNvPr>
          <p:cNvSpPr txBox="1"/>
          <p:nvPr/>
        </p:nvSpPr>
        <p:spPr>
          <a:xfrm>
            <a:off x="3016469" y="704193"/>
            <a:ext cx="1545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Dye2</a:t>
            </a:r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C62023-01FF-A93B-FE4D-3852D35B877D}"/>
              </a:ext>
            </a:extLst>
          </p:cNvPr>
          <p:cNvSpPr txBox="1"/>
          <p:nvPr/>
        </p:nvSpPr>
        <p:spPr>
          <a:xfrm>
            <a:off x="8618482" y="3656130"/>
            <a:ext cx="128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Surface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35286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1DC28D-5689-255B-7C11-4293C57153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8" b="2497"/>
          <a:stretch>
            <a:fillRect/>
          </a:stretch>
        </p:blipFill>
        <p:spPr>
          <a:xfrm>
            <a:off x="725214" y="798825"/>
            <a:ext cx="11466786" cy="51290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B13633-12D1-1E35-0608-98C3EDBA2948}"/>
              </a:ext>
            </a:extLst>
          </p:cNvPr>
          <p:cNvSpPr txBox="1"/>
          <p:nvPr/>
        </p:nvSpPr>
        <p:spPr>
          <a:xfrm>
            <a:off x="3636579" y="5833241"/>
            <a:ext cx="5002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MEP HEMICELLULOSE-BRUSHITE-DYE1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805021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93421E-B85E-8B52-83A8-64C24BB28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6" t="6200" r="12241" b="8352"/>
          <a:stretch>
            <a:fillRect/>
          </a:stretch>
        </p:blipFill>
        <p:spPr>
          <a:xfrm>
            <a:off x="620110" y="1008993"/>
            <a:ext cx="10131973" cy="45160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49DB50-D9E2-EBD3-F897-7EDDD750DE6B}"/>
              </a:ext>
            </a:extLst>
          </p:cNvPr>
          <p:cNvSpPr txBox="1"/>
          <p:nvPr/>
        </p:nvSpPr>
        <p:spPr>
          <a:xfrm>
            <a:off x="3384331" y="6085490"/>
            <a:ext cx="397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Hemicellulose-brushite-dye1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537789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7D43CB-9CE4-9398-FC1A-5B2DE0DFA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3" r="1465" b="9091"/>
          <a:stretch>
            <a:fillRect/>
          </a:stretch>
        </p:blipFill>
        <p:spPr>
          <a:xfrm rot="20423139">
            <a:off x="1198179" y="3077466"/>
            <a:ext cx="7767145" cy="32392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BF7E0C-C4E6-F419-E0D8-E2BB8DA541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48" t="11389" r="8276" b="16682"/>
          <a:stretch>
            <a:fillRect/>
          </a:stretch>
        </p:blipFill>
        <p:spPr>
          <a:xfrm rot="20463428">
            <a:off x="-105102" y="-197069"/>
            <a:ext cx="8774466" cy="337119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E4C15F8-9BB7-0FAE-F018-9F65333C6179}"/>
              </a:ext>
            </a:extLst>
          </p:cNvPr>
          <p:cNvCxnSpPr/>
          <p:nvPr/>
        </p:nvCxnSpPr>
        <p:spPr>
          <a:xfrm>
            <a:off x="5188688" y="2402958"/>
            <a:ext cx="765545" cy="19670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18313CB-CCEB-DFAD-05AA-70F2EDEB2E71}"/>
              </a:ext>
            </a:extLst>
          </p:cNvPr>
          <p:cNvSpPr txBox="1"/>
          <p:nvPr/>
        </p:nvSpPr>
        <p:spPr>
          <a:xfrm>
            <a:off x="5954232" y="2118458"/>
            <a:ext cx="2763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HOMO</a:t>
            </a:r>
            <a:endParaRPr lang="en-P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9ABC16-B4B7-EEB9-BD96-A7F732BD30FE}"/>
              </a:ext>
            </a:extLst>
          </p:cNvPr>
          <p:cNvSpPr txBox="1"/>
          <p:nvPr/>
        </p:nvSpPr>
        <p:spPr>
          <a:xfrm>
            <a:off x="6085068" y="3812804"/>
            <a:ext cx="2763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LUMO</a:t>
            </a:r>
            <a:endParaRPr lang="en-PK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C05FAD-1D8A-3E51-111C-ECD8768964C2}"/>
              </a:ext>
            </a:extLst>
          </p:cNvPr>
          <p:cNvSpPr txBox="1"/>
          <p:nvPr/>
        </p:nvSpPr>
        <p:spPr>
          <a:xfrm>
            <a:off x="7466591" y="2413368"/>
            <a:ext cx="3963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HEMICELLULOSE-BRUSHITE-DYE1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634486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57B058-8E21-3468-DCD4-994728FDB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07" t="8785" r="31810" b="8686"/>
          <a:stretch>
            <a:fillRect/>
          </a:stretch>
        </p:blipFill>
        <p:spPr>
          <a:xfrm>
            <a:off x="1839309" y="-137110"/>
            <a:ext cx="9343698" cy="64305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B526D5-554C-ED86-4F7D-BD20DC215C23}"/>
              </a:ext>
            </a:extLst>
          </p:cNvPr>
          <p:cNvSpPr txBox="1"/>
          <p:nvPr/>
        </p:nvSpPr>
        <p:spPr>
          <a:xfrm>
            <a:off x="756744" y="5139559"/>
            <a:ext cx="3510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Hemicellulose-brushite-dye1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528508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DFDF70-AE98-A378-EAA2-74F16D1B0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6" t="2874" r="12586" b="15195"/>
          <a:stretch>
            <a:fillRect/>
          </a:stretch>
        </p:blipFill>
        <p:spPr>
          <a:xfrm>
            <a:off x="2396358" y="945931"/>
            <a:ext cx="8261131" cy="41936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C97F0-4E03-351D-F28F-1B48C578FA67}"/>
              </a:ext>
            </a:extLst>
          </p:cNvPr>
          <p:cNvSpPr txBox="1"/>
          <p:nvPr/>
        </p:nvSpPr>
        <p:spPr>
          <a:xfrm>
            <a:off x="3310759" y="5612524"/>
            <a:ext cx="5885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Cellulose brushite dye1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01278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3D02FC-7BAE-6130-4FD3-9F76404FB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07" t="10389" r="13965" b="3495"/>
          <a:stretch>
            <a:fillRect/>
          </a:stretch>
        </p:blipFill>
        <p:spPr>
          <a:xfrm>
            <a:off x="148845" y="-668147"/>
            <a:ext cx="6796468" cy="37506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DBB5F7-2C8F-746C-E310-E2E48E8172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4" t="2797" r="-862" b="-699"/>
          <a:stretch>
            <a:fillRect/>
          </a:stretch>
        </p:blipFill>
        <p:spPr>
          <a:xfrm>
            <a:off x="-658604" y="2736057"/>
            <a:ext cx="10921748" cy="465361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BE79EAA-DFC7-FB55-3889-A448AEA67477}"/>
              </a:ext>
            </a:extLst>
          </p:cNvPr>
          <p:cNvCxnSpPr>
            <a:cxnSpLocks/>
          </p:cNvCxnSpPr>
          <p:nvPr/>
        </p:nvCxnSpPr>
        <p:spPr>
          <a:xfrm>
            <a:off x="5174157" y="1849120"/>
            <a:ext cx="578461" cy="20631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42A84E8-243B-F761-8015-8D8E1004EB34}"/>
              </a:ext>
            </a:extLst>
          </p:cNvPr>
          <p:cNvSpPr txBox="1"/>
          <p:nvPr/>
        </p:nvSpPr>
        <p:spPr>
          <a:xfrm>
            <a:off x="6756400" y="3429000"/>
            <a:ext cx="1788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lumo</a:t>
            </a:r>
            <a:endParaRPr lang="en-P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EA514A-4E4D-8D63-9A36-FF270CB0024E}"/>
              </a:ext>
            </a:extLst>
          </p:cNvPr>
          <p:cNvSpPr txBox="1"/>
          <p:nvPr/>
        </p:nvSpPr>
        <p:spPr>
          <a:xfrm>
            <a:off x="8208579" y="396240"/>
            <a:ext cx="1626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homo</a:t>
            </a:r>
            <a:endParaRPr lang="en-PK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D316FA-C973-BDCB-CE7A-696A711F0EFA}"/>
              </a:ext>
            </a:extLst>
          </p:cNvPr>
          <p:cNvSpPr txBox="1"/>
          <p:nvPr/>
        </p:nvSpPr>
        <p:spPr>
          <a:xfrm>
            <a:off x="8544560" y="1849120"/>
            <a:ext cx="302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Cellulose-brushite-dye1</a:t>
            </a:r>
            <a:endParaRPr lang="en-PK" b="1" dirty="0"/>
          </a:p>
        </p:txBody>
      </p:sp>
    </p:spTree>
    <p:extLst>
      <p:ext uri="{BB962C8B-B14F-4D97-AF65-F5344CB8AC3E}">
        <p14:creationId xmlns:p14="http://schemas.microsoft.com/office/powerpoint/2010/main" val="11770497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107109-A807-968A-3A9D-6767BB83F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62" t="15184" r="25776" b="24076"/>
          <a:stretch>
            <a:fillRect/>
          </a:stretch>
        </p:blipFill>
        <p:spPr>
          <a:xfrm>
            <a:off x="388882" y="1492468"/>
            <a:ext cx="5286704" cy="31951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598A60-F9D0-883E-4AB0-744FCC6FEF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76" t="1965" r="34147" b="37295"/>
          <a:stretch>
            <a:fillRect/>
          </a:stretch>
        </p:blipFill>
        <p:spPr>
          <a:xfrm>
            <a:off x="6810336" y="1333103"/>
            <a:ext cx="4508206" cy="31951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EC7431-BDBC-ABC0-C8DD-8089D0B042EE}"/>
              </a:ext>
            </a:extLst>
          </p:cNvPr>
          <p:cNvSpPr txBox="1"/>
          <p:nvPr/>
        </p:nvSpPr>
        <p:spPr>
          <a:xfrm>
            <a:off x="3699641" y="662152"/>
            <a:ext cx="3342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CELLULOSE-BRUSHITE-DYE1</a:t>
            </a:r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F62A7F-E213-2BE7-1467-E79B10100152}"/>
              </a:ext>
            </a:extLst>
          </p:cNvPr>
          <p:cNvSpPr txBox="1"/>
          <p:nvPr/>
        </p:nvSpPr>
        <p:spPr>
          <a:xfrm>
            <a:off x="1734207" y="1031484"/>
            <a:ext cx="1481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POSE 1</a:t>
            </a:r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118CBF-6863-41B0-A22E-CEB105705F9E}"/>
              </a:ext>
            </a:extLst>
          </p:cNvPr>
          <p:cNvSpPr txBox="1"/>
          <p:nvPr/>
        </p:nvSpPr>
        <p:spPr>
          <a:xfrm>
            <a:off x="8082456" y="1287277"/>
            <a:ext cx="1481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POSE 2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678014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694BF0-362A-118A-6137-36251F2EF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58" t="7392" r="18277" b="2896"/>
          <a:stretch>
            <a:fillRect/>
          </a:stretch>
        </p:blipFill>
        <p:spPr>
          <a:xfrm rot="20757625">
            <a:off x="-707" y="-69943"/>
            <a:ext cx="6971382" cy="39126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DD403B-EF47-B0F5-3E5E-63EE21C7A5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53" t="7452" r="23705" b="22006"/>
          <a:stretch>
            <a:fillRect/>
          </a:stretch>
        </p:blipFill>
        <p:spPr>
          <a:xfrm>
            <a:off x="0" y="3264195"/>
            <a:ext cx="7490002" cy="371076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911BD4C-2370-3781-4EC3-1FF27F2CC238}"/>
              </a:ext>
            </a:extLst>
          </p:cNvPr>
          <p:cNvCxnSpPr/>
          <p:nvPr/>
        </p:nvCxnSpPr>
        <p:spPr>
          <a:xfrm>
            <a:off x="3200400" y="2711302"/>
            <a:ext cx="0" cy="1137684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9E86508-2EC1-CACC-AF1D-6E77AFBB82F2}"/>
              </a:ext>
            </a:extLst>
          </p:cNvPr>
          <p:cNvSpPr txBox="1"/>
          <p:nvPr/>
        </p:nvSpPr>
        <p:spPr>
          <a:xfrm>
            <a:off x="5090160" y="4003040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LUMO</a:t>
            </a:r>
            <a:endParaRPr lang="en-P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FBA864-D31F-0DDC-4E10-5EC3E47FD653}"/>
              </a:ext>
            </a:extLst>
          </p:cNvPr>
          <p:cNvSpPr txBox="1"/>
          <p:nvPr/>
        </p:nvSpPr>
        <p:spPr>
          <a:xfrm>
            <a:off x="1076960" y="365760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HOMO</a:t>
            </a:r>
            <a:endParaRPr lang="en-PK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012813-E68A-161E-4E83-1185F08B62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50" t="23250" r="26667" b="21511"/>
          <a:stretch>
            <a:fillRect/>
          </a:stretch>
        </p:blipFill>
        <p:spPr>
          <a:xfrm>
            <a:off x="6873055" y="1341488"/>
            <a:ext cx="5374639" cy="29057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745C27-6AE3-A2A0-3331-8897CDA72CEC}"/>
              </a:ext>
            </a:extLst>
          </p:cNvPr>
          <p:cNvSpPr txBox="1"/>
          <p:nvPr/>
        </p:nvSpPr>
        <p:spPr>
          <a:xfrm>
            <a:off x="8666480" y="4805680"/>
            <a:ext cx="1808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MEP</a:t>
            </a:r>
            <a:endParaRPr lang="en-PK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2020B3-16EC-5830-6F1D-A9F42AEB8C84}"/>
              </a:ext>
            </a:extLst>
          </p:cNvPr>
          <p:cNvSpPr txBox="1"/>
          <p:nvPr/>
        </p:nvSpPr>
        <p:spPr>
          <a:xfrm>
            <a:off x="5466080" y="196483"/>
            <a:ext cx="427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LIGNIN-BRUSHITE-DYE1</a:t>
            </a:r>
            <a:endParaRPr lang="en-PK" sz="2000" b="1" dirty="0"/>
          </a:p>
        </p:txBody>
      </p:sp>
    </p:spTree>
    <p:extLst>
      <p:ext uri="{BB962C8B-B14F-4D97-AF65-F5344CB8AC3E}">
        <p14:creationId xmlns:p14="http://schemas.microsoft.com/office/powerpoint/2010/main" val="27808030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A3F173-326E-EB7B-71F6-2CE545F5A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6" t="13564" r="12241"/>
          <a:stretch>
            <a:fillRect/>
          </a:stretch>
        </p:blipFill>
        <p:spPr>
          <a:xfrm rot="350301">
            <a:off x="1019758" y="934385"/>
            <a:ext cx="11278760" cy="49892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A95D6A-DCD5-39E7-9C41-7DB920923D75}"/>
              </a:ext>
            </a:extLst>
          </p:cNvPr>
          <p:cNvSpPr txBox="1"/>
          <p:nvPr/>
        </p:nvSpPr>
        <p:spPr>
          <a:xfrm>
            <a:off x="3032567" y="5625296"/>
            <a:ext cx="4907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LIGNIN-BRUSHITE -DYE1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378484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C6CEC0-713F-69CE-EBE1-38CA88C9CD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2" t="6126" r="8017"/>
          <a:stretch>
            <a:fillRect/>
          </a:stretch>
        </p:blipFill>
        <p:spPr>
          <a:xfrm>
            <a:off x="588578" y="756744"/>
            <a:ext cx="10804635" cy="49080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B427DF-972C-950B-E71A-E0A4D41510CD}"/>
              </a:ext>
            </a:extLst>
          </p:cNvPr>
          <p:cNvSpPr txBox="1"/>
          <p:nvPr/>
        </p:nvSpPr>
        <p:spPr>
          <a:xfrm>
            <a:off x="3032567" y="5625296"/>
            <a:ext cx="4907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LIGNIN-BRUSHITE DYE1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096717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347219-C0EE-404D-EAF6-5425FC7CE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4" t="22408" r="32586" b="15875"/>
          <a:stretch>
            <a:fillRect/>
          </a:stretch>
        </p:blipFill>
        <p:spPr>
          <a:xfrm>
            <a:off x="-409079" y="147146"/>
            <a:ext cx="12023010" cy="58437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2C1AD7-2EF0-AFFA-2358-C3DC130A05FF}"/>
              </a:ext>
            </a:extLst>
          </p:cNvPr>
          <p:cNvSpPr txBox="1"/>
          <p:nvPr/>
        </p:nvSpPr>
        <p:spPr>
          <a:xfrm>
            <a:off x="3032567" y="5625296"/>
            <a:ext cx="4907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LIGNIN-BRUSHITE DYE1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646428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BC5CFD-14DC-4A13-EEE7-931C7645D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03" t="21910" r="20259" b="16640"/>
          <a:stretch>
            <a:fillRect/>
          </a:stretch>
        </p:blipFill>
        <p:spPr>
          <a:xfrm>
            <a:off x="347892" y="457200"/>
            <a:ext cx="10768111" cy="46536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23C3D8-689E-44EF-BD2A-F4C5E6A92016}"/>
              </a:ext>
            </a:extLst>
          </p:cNvPr>
          <p:cNvSpPr txBox="1"/>
          <p:nvPr/>
        </p:nvSpPr>
        <p:spPr>
          <a:xfrm>
            <a:off x="3032567" y="5625296"/>
            <a:ext cx="4907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LIGNIN-BRUSHITE DYE1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991512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A7682C3C-6636-8522-92EF-E49B009F4F76}"/>
              </a:ext>
            </a:extLst>
          </p:cNvPr>
          <p:cNvGrpSpPr/>
          <p:nvPr/>
        </p:nvGrpSpPr>
        <p:grpSpPr>
          <a:xfrm>
            <a:off x="250801" y="882903"/>
            <a:ext cx="5624884" cy="3433589"/>
            <a:chOff x="250801" y="882903"/>
            <a:chExt cx="5624884" cy="3433589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9BA6E76-974F-DE5F-38FC-D13B8E1CDE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2638" y="3051777"/>
              <a:ext cx="0" cy="1108557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DEFF30-5D1F-BA50-C239-B8BE7A85AE72}"/>
                </a:ext>
              </a:extLst>
            </p:cNvPr>
            <p:cNvSpPr txBox="1"/>
            <p:nvPr/>
          </p:nvSpPr>
          <p:spPr>
            <a:xfrm>
              <a:off x="250801" y="882903"/>
              <a:ext cx="17501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GB" sz="1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HOMO</a:t>
              </a:r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–6.9902eV</a:t>
              </a:r>
              <a:endParaRPr lang="en-PK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D470656-CB96-03E5-08C2-12164A9CEF70}"/>
                </a:ext>
              </a:extLst>
            </p:cNvPr>
            <p:cNvSpPr txBox="1"/>
            <p:nvPr/>
          </p:nvSpPr>
          <p:spPr>
            <a:xfrm>
              <a:off x="4014847" y="3098937"/>
              <a:ext cx="1860838" cy="3164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GB" sz="1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LUMO</a:t>
              </a:r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–0.1904eV</a:t>
              </a:r>
              <a:endParaRPr lang="en-PK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007C07A-FA52-7383-3E3E-4307BE11543E}"/>
                </a:ext>
              </a:extLst>
            </p:cNvPr>
            <p:cNvSpPr txBox="1"/>
            <p:nvPr/>
          </p:nvSpPr>
          <p:spPr>
            <a:xfrm rot="16200000">
              <a:off x="332860" y="3381829"/>
              <a:ext cx="1551337" cy="317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Δ</a:t>
              </a:r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E= 6.7992eV</a:t>
              </a:r>
              <a:endParaRPr lang="en-PK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33746E23-43AA-CFCE-EDB6-09D8E8D01968}"/>
              </a:ext>
            </a:extLst>
          </p:cNvPr>
          <p:cNvSpPr txBox="1"/>
          <p:nvPr/>
        </p:nvSpPr>
        <p:spPr>
          <a:xfrm>
            <a:off x="3553691" y="95903"/>
            <a:ext cx="17048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CELLULOSE</a:t>
            </a:r>
            <a:endParaRPr lang="en-PK" sz="20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6B7DB5-A46A-FC07-F502-E47C8AE188C6}"/>
              </a:ext>
            </a:extLst>
          </p:cNvPr>
          <p:cNvSpPr txBox="1"/>
          <p:nvPr/>
        </p:nvSpPr>
        <p:spPr>
          <a:xfrm>
            <a:off x="7844340" y="5985973"/>
            <a:ext cx="1643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Hemicellulose-brushite</a:t>
            </a:r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CF4BD0-47B4-D80D-56CC-AE91DFD85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07" t="2969" r="27666" b="9151"/>
          <a:stretch>
            <a:fillRect/>
          </a:stretch>
        </p:blipFill>
        <p:spPr>
          <a:xfrm>
            <a:off x="72433" y="-571759"/>
            <a:ext cx="4872833" cy="41125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C2EB90-66FA-A197-6B0A-48A12E2D4A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48" t="6864" r="27500" b="11081"/>
          <a:stretch>
            <a:fillRect/>
          </a:stretch>
        </p:blipFill>
        <p:spPr>
          <a:xfrm rot="9915385">
            <a:off x="-206340" y="2837295"/>
            <a:ext cx="5285509" cy="43163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76B4FE-F367-9909-E3D4-F9F647F886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99" t="14111" r="31628" b="4218"/>
          <a:stretch>
            <a:fillRect/>
          </a:stretch>
        </p:blipFill>
        <p:spPr>
          <a:xfrm rot="19015453">
            <a:off x="7649186" y="2055351"/>
            <a:ext cx="5019602" cy="51608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D636DB-CC41-E4C3-35CE-A6EC834640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27" t="23999" r="30500" b="9091"/>
          <a:stretch>
            <a:fillRect/>
          </a:stretch>
        </p:blipFill>
        <p:spPr>
          <a:xfrm>
            <a:off x="6982710" y="-290863"/>
            <a:ext cx="5300226" cy="334264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3AA479D-79F5-F659-202F-67E5C0764510}"/>
              </a:ext>
            </a:extLst>
          </p:cNvPr>
          <p:cNvCxnSpPr/>
          <p:nvPr/>
        </p:nvCxnSpPr>
        <p:spPr>
          <a:xfrm>
            <a:off x="9347200" y="2499360"/>
            <a:ext cx="0" cy="15138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EF0C6EF-8D24-F350-FF1F-64B7023CD717}"/>
              </a:ext>
            </a:extLst>
          </p:cNvPr>
          <p:cNvSpPr txBox="1"/>
          <p:nvPr/>
        </p:nvSpPr>
        <p:spPr>
          <a:xfrm>
            <a:off x="6569260" y="248367"/>
            <a:ext cx="300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Hemicellulose -brushite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556662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1CD1C74-6D5A-6618-3248-0F6C036B42C8}"/>
              </a:ext>
            </a:extLst>
          </p:cNvPr>
          <p:cNvSpPr txBox="1"/>
          <p:nvPr/>
        </p:nvSpPr>
        <p:spPr>
          <a:xfrm>
            <a:off x="6096000" y="519545"/>
            <a:ext cx="1271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Lignin brushite</a:t>
            </a:r>
            <a:endParaRPr lang="en-PK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6677602-780E-6346-A6A0-9C1CDE47B690}"/>
              </a:ext>
            </a:extLst>
          </p:cNvPr>
          <p:cNvCxnSpPr>
            <a:cxnSpLocks/>
          </p:cNvCxnSpPr>
          <p:nvPr/>
        </p:nvCxnSpPr>
        <p:spPr>
          <a:xfrm>
            <a:off x="9175173" y="3017520"/>
            <a:ext cx="0" cy="146096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E889E0AD-A24A-79F2-3446-9AB57E7A2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85" t="8913" r="27046" b="16814"/>
          <a:stretch>
            <a:fillRect/>
          </a:stretch>
        </p:blipFill>
        <p:spPr>
          <a:xfrm>
            <a:off x="7498883" y="-371979"/>
            <a:ext cx="4820707" cy="360355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E3B4BB4-5619-6D23-B2AA-14AABA36C2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06" t="12272" r="32073" b="2592"/>
          <a:stretch>
            <a:fillRect/>
          </a:stretch>
        </p:blipFill>
        <p:spPr>
          <a:xfrm>
            <a:off x="7814931" y="3017520"/>
            <a:ext cx="4905710" cy="447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974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3373CA-061F-CA37-78BF-F18FF7457315}"/>
              </a:ext>
            </a:extLst>
          </p:cNvPr>
          <p:cNvSpPr txBox="1"/>
          <p:nvPr/>
        </p:nvSpPr>
        <p:spPr>
          <a:xfrm>
            <a:off x="7294418" y="5847907"/>
            <a:ext cx="3075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HemiCellulose</a:t>
            </a:r>
            <a:r>
              <a:rPr lang="en-GB" dirty="0"/>
              <a:t>-brushite optimized structure</a:t>
            </a:r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5FF833-C67F-3DB0-56C9-EBDE72E4D4AF}"/>
              </a:ext>
            </a:extLst>
          </p:cNvPr>
          <p:cNvSpPr txBox="1"/>
          <p:nvPr/>
        </p:nvSpPr>
        <p:spPr>
          <a:xfrm>
            <a:off x="1160318" y="5680364"/>
            <a:ext cx="3075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Cellulose-brushite optimized structure</a:t>
            </a:r>
            <a:endParaRPr lang="en-P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F53BCF-7285-09C2-A40C-620A02455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09" t="10296" r="36421" b="2592"/>
          <a:stretch>
            <a:fillRect/>
          </a:stretch>
        </p:blipFill>
        <p:spPr>
          <a:xfrm>
            <a:off x="649779" y="795465"/>
            <a:ext cx="3678382" cy="45823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C584D0-032A-116F-F65A-F40059EA2B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50" t="2197" r="28584"/>
          <a:stretch>
            <a:fillRect/>
          </a:stretch>
        </p:blipFill>
        <p:spPr>
          <a:xfrm>
            <a:off x="7863840" y="609600"/>
            <a:ext cx="3982720" cy="514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670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1A431DE-6DBA-3628-8714-9C4E02A0F323}"/>
              </a:ext>
            </a:extLst>
          </p:cNvPr>
          <p:cNvSpPr txBox="1"/>
          <p:nvPr/>
        </p:nvSpPr>
        <p:spPr>
          <a:xfrm>
            <a:off x="633844" y="4156364"/>
            <a:ext cx="3127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MEP Cellulose-brushite</a:t>
            </a:r>
            <a:endParaRPr lang="en-PK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96E6C3-78C6-5DC6-C576-7E501B57A746}"/>
              </a:ext>
            </a:extLst>
          </p:cNvPr>
          <p:cNvSpPr txBox="1"/>
          <p:nvPr/>
        </p:nvSpPr>
        <p:spPr>
          <a:xfrm>
            <a:off x="7540335" y="5773882"/>
            <a:ext cx="3127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MEP </a:t>
            </a:r>
            <a:r>
              <a:rPr lang="en-GB" dirty="0" err="1"/>
              <a:t>hEMICellulose</a:t>
            </a:r>
            <a:r>
              <a:rPr lang="en-GB" dirty="0"/>
              <a:t>-brushite</a:t>
            </a:r>
            <a:endParaRPr lang="en-PK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8BE4C1-A59A-0204-22B4-27051E906D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3" t="13592" r="27666" b="17069"/>
          <a:stretch>
            <a:fillRect/>
          </a:stretch>
        </p:blipFill>
        <p:spPr>
          <a:xfrm>
            <a:off x="124228" y="162561"/>
            <a:ext cx="5057371" cy="36474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E2EFF0-7FD3-2552-902E-46DCEDCB36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00" t="11469" r="22083" b="2583"/>
          <a:stretch>
            <a:fillRect/>
          </a:stretch>
        </p:blipFill>
        <p:spPr>
          <a:xfrm>
            <a:off x="5817407" y="46060"/>
            <a:ext cx="6573520" cy="45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9655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4A2C3A-5983-7770-0A0C-636BB698486C}"/>
              </a:ext>
            </a:extLst>
          </p:cNvPr>
          <p:cNvSpPr txBox="1"/>
          <p:nvPr/>
        </p:nvSpPr>
        <p:spPr>
          <a:xfrm>
            <a:off x="5490267" y="381205"/>
            <a:ext cx="270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Lignin-Brushite</a:t>
            </a:r>
            <a:endParaRPr lang="en-P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CD84D8-1A68-2AC1-378A-E7D0574C2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16" t="2401" r="22819" b="12505"/>
          <a:stretch>
            <a:fillRect/>
          </a:stretch>
        </p:blipFill>
        <p:spPr>
          <a:xfrm>
            <a:off x="648585" y="1190846"/>
            <a:ext cx="6347637" cy="44763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0882D7-5126-0035-9BD2-2601636D7C63}"/>
              </a:ext>
            </a:extLst>
          </p:cNvPr>
          <p:cNvSpPr txBox="1"/>
          <p:nvPr/>
        </p:nvSpPr>
        <p:spPr>
          <a:xfrm>
            <a:off x="2192482" y="6224155"/>
            <a:ext cx="195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MEP</a:t>
            </a:r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92B1C8-2E3F-1C41-8F98-0256BABFB323}"/>
              </a:ext>
            </a:extLst>
          </p:cNvPr>
          <p:cNvSpPr txBox="1"/>
          <p:nvPr/>
        </p:nvSpPr>
        <p:spPr>
          <a:xfrm>
            <a:off x="8541327" y="6107463"/>
            <a:ext cx="2703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OPTIMIZED STRUCTURE</a:t>
            </a:r>
            <a:endParaRPr lang="en-PK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923675-0810-7976-7D40-B5D4492DCB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0" r="33693" b="4963"/>
          <a:stretch>
            <a:fillRect/>
          </a:stretch>
        </p:blipFill>
        <p:spPr>
          <a:xfrm>
            <a:off x="7980218" y="414361"/>
            <a:ext cx="3512127" cy="499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144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3426</TotalTime>
  <Words>133</Words>
  <Application>Microsoft Office PowerPoint</Application>
  <PresentationFormat>Widescreen</PresentationFormat>
  <Paragraphs>75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Aptos</vt:lpstr>
      <vt:lpstr>Aptos Display</vt:lpstr>
      <vt:lpstr>Arial</vt:lpstr>
      <vt:lpstr>Times New Roman</vt:lpstr>
      <vt:lpstr>Office Theme</vt:lpstr>
      <vt:lpstr>DYE3 ADSORPTION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Anum Zaib</dc:creator>
  <cp:lastModifiedBy>Anum Zaib</cp:lastModifiedBy>
  <cp:revision>27</cp:revision>
  <dcterms:created xsi:type="dcterms:W3CDTF">2026-05-12T03:09:39Z</dcterms:created>
  <dcterms:modified xsi:type="dcterms:W3CDTF">2026-06-06T07:48:40Z</dcterms:modified>
</cp:coreProperties>
</file>